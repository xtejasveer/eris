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2A24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F2A24"/>
                </a:solidFill>
                <a:latin typeface="Calibri"/>
              </a:rPr>
              <a:t>A ₹1,000 imported machine, after duty (₹)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Price in India (₹)</c:v>
                </c:pt>
              </c:strCache>
            </c:strRef>
          </c:tx>
          <c:spPr>
            <a:solidFill>
              <a:srgbClr val="E07A1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A24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No duty</c:v>
                  </c:pt>
                  <c:pt idx="1">
                    <c:v>50% duty</c:v>
                  </c:pt>
                  <c:pt idx="2">
                    <c:v>150% duty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1000</c:v>
                </c:pt>
                <c:pt idx="1">
                  <c:v>1500</c:v>
                </c:pt>
                <c:pt idx="2">
                  <c:v>2500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F2A24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B6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00"/>
        </c:scaling>
        <c:delete val="0"/>
        <c:axPos val="l"/>
        <c:majorGridlines>
          <c:spPr>
            <a:ln w="9525" cap="flat">
              <a:solidFill>
                <a:srgbClr val="E3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B63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E3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813816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GDP, Trade and Exchange Rates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1691640" cy="384048"/>
          </a:xfrm>
          <a:prstGeom prst="roundRect">
            <a:avLst>
              <a:gd name="adj" fmla="val 23810"/>
            </a:avLst>
          </a:prstGeom>
          <a:solidFill>
            <a:srgbClr val="8A4F78"/>
          </a:solidFill>
          <a:ln w="12700">
            <a:solidFill>
              <a:srgbClr val="8A4F7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82296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8803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D5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economics you need before India's 1991 reforms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9319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0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before: India's 1991 reforms: how opening up changed trade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GDP?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188720"/>
            <a:ext cx="8138160" cy="1097280"/>
          </a:xfrm>
          <a:prstGeom prst="roundRect">
            <a:avLst>
              <a:gd name="adj" fmla="val 10000"/>
            </a:avLst>
          </a:prstGeom>
          <a:solidFill>
            <a:srgbClr val="0E3B2E"/>
          </a:solidFill>
          <a:ln w="12700">
            <a:solidFill>
              <a:srgbClr val="0E3B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353312"/>
            <a:ext cx="777240" cy="777240"/>
          </a:xfrm>
          <a:prstGeom prst="ellipse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058" y="1539850"/>
            <a:ext cx="404165" cy="40416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37360" y="1188720"/>
            <a:ext cx="6675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 (Gross Domestic Product) 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value of everything a country produces in a year.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02920" y="2560320"/>
            <a:ext cx="2578608" cy="1828800"/>
          </a:xfrm>
          <a:prstGeom prst="roundRect">
            <a:avLst>
              <a:gd name="adj" fmla="val 6000"/>
            </a:avLst>
          </a:prstGeom>
          <a:solidFill>
            <a:srgbClr val="E9F2EC"/>
          </a:solidFill>
          <a:ln w="12700">
            <a:solidFill>
              <a:srgbClr val="E9F2E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7240" y="2788920"/>
            <a:ext cx="640080" cy="640080"/>
          </a:xfrm>
          <a:prstGeom prst="ellipse">
            <a:avLst/>
          </a:prstGeom>
          <a:solidFill>
            <a:srgbClr val="3A7D5C"/>
          </a:solidFill>
          <a:ln w="12700">
            <a:solidFill>
              <a:srgbClr val="3A7D5C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859" y="2942539"/>
            <a:ext cx="332842" cy="33284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54480" y="27889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Farms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36118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Rice, wheat, milk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3264408" y="2560320"/>
            <a:ext cx="2578608" cy="1828800"/>
          </a:xfrm>
          <a:prstGeom prst="roundRect">
            <a:avLst>
              <a:gd name="adj" fmla="val 6000"/>
            </a:avLst>
          </a:prstGeom>
          <a:solidFill>
            <a:srgbClr val="E9F2EC"/>
          </a:solidFill>
          <a:ln w="12700">
            <a:solidFill>
              <a:srgbClr val="E9F2EC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538728" y="2788920"/>
            <a:ext cx="640080" cy="640080"/>
          </a:xfrm>
          <a:prstGeom prst="ellipse">
            <a:avLst/>
          </a:prstGeom>
          <a:solidFill>
            <a:srgbClr val="3A7D5C"/>
          </a:solidFill>
          <a:ln w="12700">
            <a:solidFill>
              <a:srgbClr val="3A7D5C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2347" y="2942539"/>
            <a:ext cx="332842" cy="33284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315968" y="27889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Factories</a:t>
            </a:r>
            <a:endParaRPr lang="en-US" sz="1700" dirty="0"/>
          </a:p>
        </p:txBody>
      </p:sp>
      <p:sp>
        <p:nvSpPr>
          <p:cNvPr id="16" name="Text 11"/>
          <p:cNvSpPr txBox="1"/>
          <p:nvPr/>
        </p:nvSpPr>
        <p:spPr>
          <a:xfrm>
            <a:off x="3538728" y="36118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Cars, cloth, medicines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6025896" y="2560320"/>
            <a:ext cx="2578608" cy="1828800"/>
          </a:xfrm>
          <a:prstGeom prst="roundRect">
            <a:avLst>
              <a:gd name="adj" fmla="val 6000"/>
            </a:avLst>
          </a:prstGeom>
          <a:solidFill>
            <a:srgbClr val="E9F2EC"/>
          </a:solidFill>
          <a:ln w="12700">
            <a:solidFill>
              <a:srgbClr val="E9F2EC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6300216" y="2788920"/>
            <a:ext cx="640080" cy="640080"/>
          </a:xfrm>
          <a:prstGeom prst="ellipse">
            <a:avLst/>
          </a:prstGeom>
          <a:solidFill>
            <a:srgbClr val="3A7D5C"/>
          </a:solidFill>
          <a:ln w="12700">
            <a:solidFill>
              <a:srgbClr val="3A7D5C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3835" y="2942539"/>
            <a:ext cx="332842" cy="332842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7077456" y="27889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Services</a:t>
            </a:r>
            <a:endParaRPr lang="en-US" sz="1700" dirty="0"/>
          </a:p>
        </p:txBody>
      </p:sp>
      <p:sp>
        <p:nvSpPr>
          <p:cNvPr id="21" name="Text 15"/>
          <p:cNvSpPr txBox="1"/>
          <p:nvPr/>
        </p:nvSpPr>
        <p:spPr>
          <a:xfrm>
            <a:off x="6300216" y="36118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Banks, IT, teaching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Exports and imports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188720"/>
            <a:ext cx="3931920" cy="3200400"/>
          </a:xfrm>
          <a:prstGeom prst="roundRect">
            <a:avLst>
              <a:gd name="adj" fmla="val 3429"/>
            </a:avLst>
          </a:prstGeom>
          <a:solidFill>
            <a:srgbClr val="E9F2EC"/>
          </a:solidFill>
          <a:ln w="12700">
            <a:solidFill>
              <a:srgbClr val="E9F2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417320"/>
            <a:ext cx="731520" cy="731520"/>
          </a:xfrm>
          <a:prstGeom prst="ellipse">
            <a:avLst/>
          </a:prstGeom>
          <a:solidFill>
            <a:srgbClr val="3A7D5C"/>
          </a:solidFill>
          <a:ln w="12700">
            <a:solidFill>
              <a:srgbClr val="3A7D5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805" y="1592885"/>
            <a:ext cx="380390" cy="38039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91640" y="14173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Exports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37744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Goods and services India sells to other countries.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29184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example: IT services, medicines, rice.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709160" y="1188720"/>
            <a:ext cx="3931920" cy="3200400"/>
          </a:xfrm>
          <a:prstGeom prst="roundRect">
            <a:avLst>
              <a:gd name="adj" fmla="val 3429"/>
            </a:avLst>
          </a:prstGeom>
          <a:solidFill>
            <a:srgbClr val="E9F2EC"/>
          </a:solidFill>
          <a:ln w="12700">
            <a:solidFill>
              <a:srgbClr val="E9F2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983480" y="1417320"/>
            <a:ext cx="731520" cy="731520"/>
          </a:xfrm>
          <a:prstGeom prst="ellipse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9045" y="1592885"/>
            <a:ext cx="380390" cy="38039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897880" y="14173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Imports</a:t>
            </a:r>
            <a:endParaRPr lang="en-US" sz="2100" dirty="0"/>
          </a:p>
        </p:txBody>
      </p:sp>
      <p:sp>
        <p:nvSpPr>
          <p:cNvPr id="13" name="Text 9"/>
          <p:cNvSpPr txBox="1"/>
          <p:nvPr/>
        </p:nvSpPr>
        <p:spPr>
          <a:xfrm>
            <a:off x="4983480" y="237744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Goods and services India buys from other countries.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4983480" y="329184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example: crude oil, gold, electronics.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 as a share of GDP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188720"/>
            <a:ext cx="8138160" cy="868680"/>
          </a:xfrm>
          <a:prstGeom prst="roundRect">
            <a:avLst>
              <a:gd name="adj" fmla="val 12632"/>
            </a:avLst>
          </a:prstGeom>
          <a:solidFill>
            <a:srgbClr val="0E3B2E"/>
          </a:solidFill>
          <a:ln w="12700">
            <a:solidFill>
              <a:srgbClr val="0E3B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188720"/>
            <a:ext cx="7589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trade share  =  (exports + imports) / GDP  x  100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02920" y="2377440"/>
            <a:ext cx="1691640" cy="1188720"/>
          </a:xfrm>
          <a:prstGeom prst="roundRect">
            <a:avLst>
              <a:gd name="adj" fmla="val 9231"/>
            </a:avLst>
          </a:prstGeom>
          <a:solidFill>
            <a:srgbClr val="E9F2EC"/>
          </a:solidFill>
          <a:ln w="12700">
            <a:solidFill>
              <a:srgbClr val="E9F2E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24688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7889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₹23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2377440" y="2377440"/>
            <a:ext cx="1691640" cy="1188720"/>
          </a:xfrm>
          <a:prstGeom prst="roundRect">
            <a:avLst>
              <a:gd name="adj" fmla="val 9231"/>
            </a:avLst>
          </a:prstGeom>
          <a:solidFill>
            <a:srgbClr val="E9F2EC"/>
          </a:solidFill>
          <a:ln w="12700">
            <a:solidFill>
              <a:srgbClr val="E9F2E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60320" y="24688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560320" y="27889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₹27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4251960" y="2377440"/>
            <a:ext cx="1691640" cy="1188720"/>
          </a:xfrm>
          <a:prstGeom prst="roundRect">
            <a:avLst>
              <a:gd name="adj" fmla="val 9231"/>
            </a:avLst>
          </a:prstGeom>
          <a:solidFill>
            <a:srgbClr val="E9F2EC"/>
          </a:solidFill>
          <a:ln w="12700">
            <a:solidFill>
              <a:srgbClr val="E9F2E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434840" y="24688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434840" y="27889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₹100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172200" y="2377440"/>
            <a:ext cx="2468880" cy="1188720"/>
          </a:xfrm>
          <a:prstGeom prst="roundRect">
            <a:avLst>
              <a:gd name="adj" fmla="val 9231"/>
            </a:avLst>
          </a:prstGeom>
          <a:solidFill>
            <a:srgbClr val="0E3B2E"/>
          </a:solidFill>
          <a:ln w="12700">
            <a:solidFill>
              <a:srgbClr val="0E3B2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55080" y="23774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07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50%</a:t>
            </a:r>
            <a:endParaRPr lang="en-US" sz="3400" dirty="0"/>
          </a:p>
        </p:txBody>
      </p:sp>
      <p:sp>
        <p:nvSpPr>
          <p:cNvPr id="16" name="Text 14"/>
          <p:cNvSpPr txBox="1"/>
          <p:nvPr/>
        </p:nvSpPr>
        <p:spPr>
          <a:xfrm>
            <a:off x="502920" y="388620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bigger share means the economy is more open: more of what it makes and uses crosses its borders.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Exchange rates and devaluation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188720"/>
            <a:ext cx="3931920" cy="2194560"/>
          </a:xfrm>
          <a:prstGeom prst="roundRect">
            <a:avLst>
              <a:gd name="adj" fmla="val 5000"/>
            </a:avLst>
          </a:prstGeom>
          <a:solidFill>
            <a:srgbClr val="E9F2EC"/>
          </a:solidFill>
          <a:ln w="12700">
            <a:solidFill>
              <a:srgbClr val="E9F2E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3258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7830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₹20 = $1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2316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Indian shirt costing ₹500 sells abroad for $25.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709160" y="1188720"/>
            <a:ext cx="3931920" cy="2194560"/>
          </a:xfrm>
          <a:prstGeom prst="roundRect">
            <a:avLst>
              <a:gd name="adj" fmla="val 5000"/>
            </a:avLst>
          </a:prstGeom>
          <a:solidFill>
            <a:srgbClr val="E9F2EC"/>
          </a:solidFill>
          <a:ln w="12700">
            <a:solidFill>
              <a:srgbClr val="E9F2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83480" y="13258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 devaluation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983480" y="17830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7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₹25 = $1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983480" y="242316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₹500 shirt now sells for only $20.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3611880"/>
            <a:ext cx="8138160" cy="822960"/>
          </a:xfrm>
          <a:prstGeom prst="roundRect">
            <a:avLst>
              <a:gd name="adj" fmla="val 13333"/>
            </a:avLst>
          </a:prstGeom>
          <a:solidFill>
            <a:srgbClr val="0E3B2E"/>
          </a:solidFill>
          <a:ln w="12700">
            <a:solidFill>
              <a:srgbClr val="0E3B2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361188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devalued rupee makes India's exports cheaper abroad, and imports dearer at home. (Illustrative numbers.)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Tariffs: a tax on imports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02920" y="1143000"/>
          <a:ext cx="539496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6172200" y="1143000"/>
            <a:ext cx="2468880" cy="3429000"/>
          </a:xfrm>
          <a:prstGeom prst="roundRect">
            <a:avLst>
              <a:gd name="adj" fmla="val 4444"/>
            </a:avLst>
          </a:prstGeom>
          <a:solidFill>
            <a:srgbClr val="E9F2EC"/>
          </a:solidFill>
          <a:ln w="12700">
            <a:solidFill>
              <a:srgbClr val="E9F2EC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355080" y="13258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3A7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2.5x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6355080" y="21488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price with a 150% duty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355080" y="2743200"/>
            <a:ext cx="2148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duties protect local firms, but make imported machines and inputs expensive.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Percentage change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188720"/>
            <a:ext cx="8138160" cy="822960"/>
          </a:xfrm>
          <a:prstGeom prst="roundRect">
            <a:avLst>
              <a:gd name="adj" fmla="val 13333"/>
            </a:avLst>
          </a:prstGeom>
          <a:solidFill>
            <a:srgbClr val="0E3B2E"/>
          </a:solidFill>
          <a:ln w="12700">
            <a:solidFill>
              <a:srgbClr val="0E3B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18872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change  =  (new - old) / old  x  100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02920" y="2286000"/>
            <a:ext cx="2578608" cy="2103120"/>
          </a:xfrm>
          <a:prstGeom prst="roundRect">
            <a:avLst>
              <a:gd name="adj" fmla="val 5217"/>
            </a:avLst>
          </a:prstGeom>
          <a:solidFill>
            <a:srgbClr val="E9F2EC"/>
          </a:solidFill>
          <a:ln w="12700">
            <a:solidFill>
              <a:srgbClr val="E9F2E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4231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40, new 50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1089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50 - 40 = 10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264408" y="2286000"/>
            <a:ext cx="2578608" cy="2103120"/>
          </a:xfrm>
          <a:prstGeom prst="roundRect">
            <a:avLst>
              <a:gd name="adj" fmla="val 5217"/>
            </a:avLst>
          </a:prstGeom>
          <a:solidFill>
            <a:srgbClr val="E9F2EC"/>
          </a:solidFill>
          <a:ln w="12700">
            <a:solidFill>
              <a:srgbClr val="E9F2E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93008" y="24231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by old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493008" y="31089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40 = 0.25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025896" y="2286000"/>
            <a:ext cx="2578608" cy="2103120"/>
          </a:xfrm>
          <a:prstGeom prst="roundRect">
            <a:avLst>
              <a:gd name="adj" fmla="val 5217"/>
            </a:avLst>
          </a:prstGeom>
          <a:solidFill>
            <a:srgbClr val="E9F2EC"/>
          </a:solidFill>
          <a:ln w="12700">
            <a:solidFill>
              <a:srgbClr val="E9F2E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54496" y="24231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 100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254496" y="31089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7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0.25 x 100 = 25%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You're ready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3017520"/>
            <a:ext cx="365760" cy="365760"/>
          </a:xfrm>
          <a:prstGeom prst="ellipse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3081528"/>
            <a:ext cx="237744" cy="23774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43000" y="3017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 is everything a country produces in a year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548640" y="3493008"/>
            <a:ext cx="365760" cy="365760"/>
          </a:xfrm>
          <a:prstGeom prst="ellipse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3557016"/>
            <a:ext cx="237744" cy="23774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43000" y="349300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share = (exports + imports) / GDP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548640" y="3968496"/>
            <a:ext cx="365760" cy="365760"/>
          </a:xfrm>
          <a:prstGeom prst="ellipse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4032504"/>
            <a:ext cx="237744" cy="23774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143000" y="3968496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Devaluation makes exports cheaper; tariffs make imports dearer</a:t>
            </a:r>
            <a:endParaRPr lang="en-US" sz="1700" dirty="0"/>
          </a:p>
        </p:txBody>
      </p:sp>
      <p:sp>
        <p:nvSpPr>
          <p:cNvPr id="12" name="Text 7"/>
          <p:cNvSpPr txBox="1"/>
          <p:nvPr/>
        </p:nvSpPr>
        <p:spPr>
          <a:xfrm>
            <a:off x="548640" y="455371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0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India's 1991 crisis and the reforms that opened it up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GDP, Trade and Exchange Rates</dc:title>
  <dc:subject>PptxGenJS Presentation</dc:subject>
  <dc:creator>Eris demo</dc:creator>
  <cp:lastModifiedBy>Eris demo</cp:lastModifiedBy>
  <cp:revision>1</cp:revision>
  <dcterms:created xsi:type="dcterms:W3CDTF">2026-10-26T11:26:06Z</dcterms:created>
  <dcterms:modified xsi:type="dcterms:W3CDTF">2026-10-26T11:26:06Z</dcterms:modified>
</cp:coreProperties>
</file>