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5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C2533"/>
                </a:solidFill>
                <a:latin typeface="Calibri"/>
              </a:rPr>
              <a:t>Range for u = 20 m/s (no air resistance)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Range (m)</c:v>
                </c:pt>
              </c:strCache>
            </c:strRef>
          </c:tx>
          <c:spPr>
            <a:solidFill>
              <a:srgbClr val="F28C28"/>
            </a:solidFill>
            <a:ln w="38100" cap="flat">
              <a:solidFill>
                <a:srgbClr val="F28C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533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28C28"/>
              </a:solidFill>
              <a:ln w="9525" cap="flat">
                <a:solidFill>
                  <a:srgbClr val="F28C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0°</c:v>
                  </c:pt>
                  <c:pt idx="1">
                    <c:v>15°</c:v>
                  </c:pt>
                  <c:pt idx="2">
                    <c:v>30°</c:v>
                  </c:pt>
                  <c:pt idx="3">
                    <c:v>45°</c:v>
                  </c:pt>
                  <c:pt idx="4">
                    <c:v>60°</c:v>
                  </c:pt>
                  <c:pt idx="5">
                    <c:v>75°</c:v>
                  </c:pt>
                  <c:pt idx="6">
                    <c:v>90°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20.4</c:v>
                </c:pt>
                <c:pt idx="2">
                  <c:v>35.3</c:v>
                </c:pt>
                <c:pt idx="3">
                  <c:v>40.8</c:v>
                </c:pt>
                <c:pt idx="4">
                  <c:v>35.3</c:v>
                </c:pt>
                <c:pt idx="5">
                  <c:v>20.4</c:v>
                </c:pt>
                <c:pt idx="6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533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32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Projectile Motion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45° throw goes the farthest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120640" y="4480560"/>
            <a:ext cx="3566160" cy="0"/>
          </a:xfrm>
          <a:prstGeom prst="line">
            <a:avLst/>
          </a:prstGeom>
          <a:noFill/>
          <a:ln w="25400">
            <a:solidFill>
              <a:srgbClr val="3A4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0" y="3108960"/>
            <a:ext cx="3291840" cy="1371600"/>
          </a:xfrm>
          <a:custGeom>
            <a:avLst/>
            <a:gdLst/>
            <a:ahLst/>
            <a:cxnLst/>
            <a:rect l="l" t="t" r="r" b="b"/>
            <a:pathLst>
              <a:path w="3291840" h="1371600">
                <a:moveTo>
                  <a:pt x="0" y="1371600"/>
                </a:moveTo>
                <a:lnTo>
                  <a:pt x="102870" y="1205508"/>
                </a:lnTo>
                <a:lnTo>
                  <a:pt x="205740" y="1050131"/>
                </a:lnTo>
                <a:lnTo>
                  <a:pt x="308610" y="905470"/>
                </a:lnTo>
                <a:lnTo>
                  <a:pt x="411480" y="771525"/>
                </a:lnTo>
                <a:lnTo>
                  <a:pt x="514350" y="648295"/>
                </a:lnTo>
                <a:lnTo>
                  <a:pt x="617220" y="535781"/>
                </a:lnTo>
                <a:lnTo>
                  <a:pt x="720090" y="433983"/>
                </a:lnTo>
                <a:lnTo>
                  <a:pt x="822960" y="342900"/>
                </a:lnTo>
                <a:lnTo>
                  <a:pt x="925830" y="262533"/>
                </a:lnTo>
                <a:lnTo>
                  <a:pt x="1028700" y="192881"/>
                </a:lnTo>
                <a:lnTo>
                  <a:pt x="1131570" y="133945"/>
                </a:lnTo>
                <a:lnTo>
                  <a:pt x="1234440" y="85725"/>
                </a:lnTo>
                <a:lnTo>
                  <a:pt x="1337310" y="48220"/>
                </a:lnTo>
                <a:lnTo>
                  <a:pt x="1440180" y="21431"/>
                </a:lnTo>
                <a:lnTo>
                  <a:pt x="1543050" y="5358"/>
                </a:lnTo>
                <a:lnTo>
                  <a:pt x="1645920" y="0"/>
                </a:lnTo>
                <a:lnTo>
                  <a:pt x="1748790" y="5358"/>
                </a:lnTo>
                <a:lnTo>
                  <a:pt x="1851660" y="21431"/>
                </a:lnTo>
                <a:lnTo>
                  <a:pt x="1954530" y="48220"/>
                </a:lnTo>
                <a:lnTo>
                  <a:pt x="2057400" y="85725"/>
                </a:lnTo>
                <a:lnTo>
                  <a:pt x="2160270" y="133945"/>
                </a:lnTo>
                <a:lnTo>
                  <a:pt x="2263140" y="192881"/>
                </a:lnTo>
                <a:lnTo>
                  <a:pt x="2366010" y="262533"/>
                </a:lnTo>
                <a:lnTo>
                  <a:pt x="2468880" y="342900"/>
                </a:lnTo>
                <a:lnTo>
                  <a:pt x="2571750" y="433983"/>
                </a:lnTo>
                <a:lnTo>
                  <a:pt x="2674620" y="535781"/>
                </a:lnTo>
                <a:lnTo>
                  <a:pt x="2777490" y="648295"/>
                </a:lnTo>
                <a:lnTo>
                  <a:pt x="2880360" y="771525"/>
                </a:lnTo>
                <a:lnTo>
                  <a:pt x="2983230" y="905470"/>
                </a:lnTo>
                <a:lnTo>
                  <a:pt x="3086100" y="1050131"/>
                </a:lnTo>
                <a:lnTo>
                  <a:pt x="3188970" y="1205508"/>
                </a:lnTo>
                <a:lnTo>
                  <a:pt x="3291840" y="1371600"/>
                </a:lnTo>
              </a:path>
            </a:pathLst>
          </a:custGeom>
          <a:ln w="4445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0" y="3703320"/>
            <a:ext cx="2834640" cy="777240"/>
          </a:xfrm>
          <a:custGeom>
            <a:avLst/>
            <a:gdLst/>
            <a:ahLst/>
            <a:cxnLst/>
            <a:rect l="l" t="t" r="r" b="b"/>
            <a:pathLst>
              <a:path w="2834640" h="777240">
                <a:moveTo>
                  <a:pt x="0" y="777240"/>
                </a:moveTo>
                <a:lnTo>
                  <a:pt x="88583" y="683121"/>
                </a:lnTo>
                <a:lnTo>
                  <a:pt x="177165" y="595074"/>
                </a:lnTo>
                <a:lnTo>
                  <a:pt x="265748" y="513100"/>
                </a:lnTo>
                <a:lnTo>
                  <a:pt x="354330" y="437197"/>
                </a:lnTo>
                <a:lnTo>
                  <a:pt x="442913" y="367367"/>
                </a:lnTo>
                <a:lnTo>
                  <a:pt x="531495" y="303609"/>
                </a:lnTo>
                <a:lnTo>
                  <a:pt x="620078" y="245924"/>
                </a:lnTo>
                <a:lnTo>
                  <a:pt x="708660" y="194310"/>
                </a:lnTo>
                <a:lnTo>
                  <a:pt x="797243" y="148769"/>
                </a:lnTo>
                <a:lnTo>
                  <a:pt x="885825" y="109299"/>
                </a:lnTo>
                <a:lnTo>
                  <a:pt x="974408" y="75902"/>
                </a:lnTo>
                <a:lnTo>
                  <a:pt x="1062990" y="48577"/>
                </a:lnTo>
                <a:lnTo>
                  <a:pt x="1151573" y="27325"/>
                </a:lnTo>
                <a:lnTo>
                  <a:pt x="1240155" y="12144"/>
                </a:lnTo>
                <a:lnTo>
                  <a:pt x="1328738" y="3036"/>
                </a:lnTo>
                <a:lnTo>
                  <a:pt x="1417320" y="0"/>
                </a:lnTo>
                <a:lnTo>
                  <a:pt x="1505903" y="3036"/>
                </a:lnTo>
                <a:lnTo>
                  <a:pt x="1594485" y="12144"/>
                </a:lnTo>
                <a:lnTo>
                  <a:pt x="1683068" y="27325"/>
                </a:lnTo>
                <a:lnTo>
                  <a:pt x="1771650" y="48577"/>
                </a:lnTo>
                <a:lnTo>
                  <a:pt x="1860233" y="75902"/>
                </a:lnTo>
                <a:lnTo>
                  <a:pt x="1948815" y="109299"/>
                </a:lnTo>
                <a:lnTo>
                  <a:pt x="2037398" y="148769"/>
                </a:lnTo>
                <a:lnTo>
                  <a:pt x="2125980" y="194310"/>
                </a:lnTo>
                <a:lnTo>
                  <a:pt x="2214563" y="245924"/>
                </a:lnTo>
                <a:lnTo>
                  <a:pt x="2303145" y="303609"/>
                </a:lnTo>
                <a:lnTo>
                  <a:pt x="2391728" y="367367"/>
                </a:lnTo>
                <a:lnTo>
                  <a:pt x="2480310" y="437197"/>
                </a:lnTo>
                <a:lnTo>
                  <a:pt x="2568893" y="513100"/>
                </a:lnTo>
                <a:lnTo>
                  <a:pt x="2657475" y="595074"/>
                </a:lnTo>
                <a:lnTo>
                  <a:pt x="2746058" y="683121"/>
                </a:lnTo>
                <a:lnTo>
                  <a:pt x="2834640" y="777240"/>
                </a:lnTo>
              </a:path>
            </a:pathLst>
          </a:custGeom>
          <a:ln w="25400">
            <a:solidFill>
              <a:srgbClr val="5E729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212080" y="2286000"/>
            <a:ext cx="2834640" cy="2194560"/>
          </a:xfrm>
          <a:custGeom>
            <a:avLst/>
            <a:gdLst/>
            <a:ahLst/>
            <a:cxnLst/>
            <a:rect l="l" t="t" r="r" b="b"/>
            <a:pathLst>
              <a:path w="2834640" h="2194560">
                <a:moveTo>
                  <a:pt x="0" y="2194560"/>
                </a:moveTo>
                <a:lnTo>
                  <a:pt x="88583" y="1928813"/>
                </a:lnTo>
                <a:lnTo>
                  <a:pt x="177165" y="1680210"/>
                </a:lnTo>
                <a:lnTo>
                  <a:pt x="265748" y="1448753"/>
                </a:lnTo>
                <a:lnTo>
                  <a:pt x="354330" y="1234440"/>
                </a:lnTo>
                <a:lnTo>
                  <a:pt x="442913" y="1037272"/>
                </a:lnTo>
                <a:lnTo>
                  <a:pt x="531495" y="857250"/>
                </a:lnTo>
                <a:lnTo>
                  <a:pt x="620078" y="694372"/>
                </a:lnTo>
                <a:lnTo>
                  <a:pt x="708660" y="548640"/>
                </a:lnTo>
                <a:lnTo>
                  <a:pt x="797243" y="420053"/>
                </a:lnTo>
                <a:lnTo>
                  <a:pt x="885825" y="308610"/>
                </a:lnTo>
                <a:lnTo>
                  <a:pt x="974408" y="214313"/>
                </a:lnTo>
                <a:lnTo>
                  <a:pt x="1062990" y="137160"/>
                </a:lnTo>
                <a:lnTo>
                  <a:pt x="1151573" y="77153"/>
                </a:lnTo>
                <a:lnTo>
                  <a:pt x="1240155" y="34290"/>
                </a:lnTo>
                <a:lnTo>
                  <a:pt x="1328738" y="8572"/>
                </a:lnTo>
                <a:lnTo>
                  <a:pt x="1417320" y="0"/>
                </a:lnTo>
                <a:lnTo>
                  <a:pt x="1505903" y="8572"/>
                </a:lnTo>
                <a:lnTo>
                  <a:pt x="1594485" y="34290"/>
                </a:lnTo>
                <a:lnTo>
                  <a:pt x="1683068" y="77152"/>
                </a:lnTo>
                <a:lnTo>
                  <a:pt x="1771650" y="137160"/>
                </a:lnTo>
                <a:lnTo>
                  <a:pt x="1860233" y="214313"/>
                </a:lnTo>
                <a:lnTo>
                  <a:pt x="1948815" y="308610"/>
                </a:lnTo>
                <a:lnTo>
                  <a:pt x="2037398" y="420053"/>
                </a:lnTo>
                <a:lnTo>
                  <a:pt x="2125980" y="548640"/>
                </a:lnTo>
                <a:lnTo>
                  <a:pt x="2214563" y="694372"/>
                </a:lnTo>
                <a:lnTo>
                  <a:pt x="2303145" y="857250"/>
                </a:lnTo>
                <a:lnTo>
                  <a:pt x="2391728" y="1037272"/>
                </a:lnTo>
                <a:lnTo>
                  <a:pt x="2480310" y="1234440"/>
                </a:lnTo>
                <a:lnTo>
                  <a:pt x="2568893" y="1448753"/>
                </a:lnTo>
                <a:lnTo>
                  <a:pt x="2657475" y="1680210"/>
                </a:lnTo>
                <a:lnTo>
                  <a:pt x="2746058" y="1928813"/>
                </a:lnTo>
                <a:lnTo>
                  <a:pt x="2834640" y="2194560"/>
                </a:lnTo>
              </a:path>
            </a:pathLst>
          </a:custGeom>
          <a:ln w="25400">
            <a:solidFill>
              <a:srgbClr val="5E7299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583680" y="2697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projectile?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8138160" cy="777240"/>
          </a:xfrm>
          <a:prstGeom prst="roundRect">
            <a:avLst>
              <a:gd name="adj" fmla="val 14118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430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projectile </a:t>
            </a:r>
            <a:pPr indent="0" marL="0">
              <a:buNone/>
            </a:pPr>
            <a:r>
              <a:rPr lang="en-US" sz="17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anything thrown or launched that then moves under gravity alone.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257860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23160"/>
            <a:ext cx="731520" cy="731520"/>
          </a:xfrm>
          <a:prstGeom prst="ellipse">
            <a:avLst/>
          </a:prstGeom>
          <a:solidFill>
            <a:srgbClr val="13203B"/>
          </a:solidFill>
          <a:ln w="12700">
            <a:solidFill>
              <a:srgbClr val="13203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59872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4231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cricket throw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337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fielder's throw to the keeper.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64408" y="2194560"/>
            <a:ext cx="257860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38728" y="2423160"/>
            <a:ext cx="731520" cy="731520"/>
          </a:xfrm>
          <a:prstGeom prst="ellipse">
            <a:avLst/>
          </a:prstGeom>
          <a:solidFill>
            <a:srgbClr val="13203B"/>
          </a:solidFill>
          <a:ln w="12700">
            <a:solidFill>
              <a:srgbClr val="13203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293" y="259872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07408" y="24231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football kick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38728" y="3337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kick down the field.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025896" y="2194560"/>
            <a:ext cx="257860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0216" y="2423160"/>
            <a:ext cx="731520" cy="731520"/>
          </a:xfrm>
          <a:prstGeom prst="ellipse">
            <a:avLst/>
          </a:prstGeom>
          <a:solidFill>
            <a:srgbClr val="13203B"/>
          </a:solidFill>
          <a:ln w="12700">
            <a:solidFill>
              <a:srgbClr val="13203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781" y="259872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68896" y="24231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from a hose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00216" y="3337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drop follows a curved path.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motions at the same time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4343400"/>
            <a:ext cx="4754880" cy="0"/>
          </a:xfrm>
          <a:prstGeom prst="line">
            <a:avLst/>
          </a:prstGeom>
          <a:noFill/>
          <a:ln w="25400">
            <a:solidFill>
              <a:srgbClr val="B8C4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965960"/>
            <a:ext cx="4389120" cy="2377440"/>
          </a:xfrm>
          <a:custGeom>
            <a:avLst/>
            <a:gdLst/>
            <a:ahLst/>
            <a:cxnLst/>
            <a:rect l="l" t="t" r="r" b="b"/>
            <a:pathLst>
              <a:path w="4389120" h="2377440">
                <a:moveTo>
                  <a:pt x="0" y="2377440"/>
                </a:moveTo>
                <a:lnTo>
                  <a:pt x="137160" y="2089547"/>
                </a:lnTo>
                <a:lnTo>
                  <a:pt x="274320" y="1820228"/>
                </a:lnTo>
                <a:lnTo>
                  <a:pt x="411480" y="1569482"/>
                </a:lnTo>
                <a:lnTo>
                  <a:pt x="548640" y="1337310"/>
                </a:lnTo>
                <a:lnTo>
                  <a:pt x="685800" y="1123712"/>
                </a:lnTo>
                <a:lnTo>
                  <a:pt x="822960" y="928688"/>
                </a:lnTo>
                <a:lnTo>
                  <a:pt x="960120" y="752237"/>
                </a:lnTo>
                <a:lnTo>
                  <a:pt x="1097280" y="594360"/>
                </a:lnTo>
                <a:lnTo>
                  <a:pt x="1234440" y="455057"/>
                </a:lnTo>
                <a:lnTo>
                  <a:pt x="1371600" y="334328"/>
                </a:lnTo>
                <a:lnTo>
                  <a:pt x="1508760" y="232172"/>
                </a:lnTo>
                <a:lnTo>
                  <a:pt x="1645920" y="148590"/>
                </a:lnTo>
                <a:lnTo>
                  <a:pt x="1783080" y="83582"/>
                </a:lnTo>
                <a:lnTo>
                  <a:pt x="1920240" y="37148"/>
                </a:lnTo>
                <a:lnTo>
                  <a:pt x="2057400" y="9287"/>
                </a:lnTo>
                <a:lnTo>
                  <a:pt x="2194560" y="0"/>
                </a:lnTo>
                <a:lnTo>
                  <a:pt x="2331720" y="9287"/>
                </a:lnTo>
                <a:lnTo>
                  <a:pt x="2468880" y="37147"/>
                </a:lnTo>
                <a:lnTo>
                  <a:pt x="2606040" y="83582"/>
                </a:lnTo>
                <a:lnTo>
                  <a:pt x="2743200" y="148590"/>
                </a:lnTo>
                <a:lnTo>
                  <a:pt x="2880360" y="232172"/>
                </a:lnTo>
                <a:lnTo>
                  <a:pt x="3017520" y="334328"/>
                </a:lnTo>
                <a:lnTo>
                  <a:pt x="3154680" y="455057"/>
                </a:lnTo>
                <a:lnTo>
                  <a:pt x="3291840" y="594360"/>
                </a:lnTo>
                <a:lnTo>
                  <a:pt x="3429000" y="752237"/>
                </a:lnTo>
                <a:lnTo>
                  <a:pt x="3566160" y="928688"/>
                </a:lnTo>
                <a:lnTo>
                  <a:pt x="3703320" y="1123712"/>
                </a:lnTo>
                <a:lnTo>
                  <a:pt x="3840480" y="1337310"/>
                </a:lnTo>
                <a:lnTo>
                  <a:pt x="3977640" y="1569482"/>
                </a:lnTo>
                <a:lnTo>
                  <a:pt x="4114800" y="1820228"/>
                </a:lnTo>
                <a:lnTo>
                  <a:pt x="4251960" y="2089547"/>
                </a:lnTo>
                <a:lnTo>
                  <a:pt x="4389120" y="2377440"/>
                </a:lnTo>
              </a:path>
            </a:pathLst>
          </a:custGeom>
          <a:ln w="381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3520440"/>
            <a:ext cx="548640" cy="0"/>
          </a:xfrm>
          <a:prstGeom prst="line">
            <a:avLst/>
          </a:prstGeom>
          <a:noFill/>
          <a:ln w="31750">
            <a:solidFill>
              <a:srgbClr val="3A8FD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60120" y="3017520"/>
            <a:ext cx="0" cy="50292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  <a:headEnd type="triangle"/>
          </a:ln>
        </p:spPr>
      </p:sp>
      <p:sp>
        <p:nvSpPr>
          <p:cNvPr id="7" name="Shape 5"/>
          <p:cNvSpPr/>
          <p:nvPr/>
        </p:nvSpPr>
        <p:spPr>
          <a:xfrm>
            <a:off x="2880360" y="1965960"/>
            <a:ext cx="548640" cy="0"/>
          </a:xfrm>
          <a:prstGeom prst="line">
            <a:avLst/>
          </a:prstGeom>
          <a:noFill/>
          <a:ln w="31750">
            <a:solidFill>
              <a:srgbClr val="3A8FD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00600" y="3520440"/>
            <a:ext cx="548640" cy="0"/>
          </a:xfrm>
          <a:prstGeom prst="line">
            <a:avLst/>
          </a:prstGeom>
          <a:noFill/>
          <a:ln w="31750">
            <a:solidFill>
              <a:srgbClr val="3A8FD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00600" y="3520440"/>
            <a:ext cx="0" cy="50292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77840" y="1188720"/>
            <a:ext cx="3063240" cy="1508760"/>
          </a:xfrm>
          <a:prstGeom prst="roundRect">
            <a:avLst>
              <a:gd name="adj" fmla="val 727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06440" y="1298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8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Sideways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1691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speed all the way: nothing pushes or pulls sideways.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77840" y="2880360"/>
            <a:ext cx="3063240" cy="1508760"/>
          </a:xfrm>
          <a:prstGeom prst="roundRect">
            <a:avLst>
              <a:gd name="adj" fmla="val 727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06440" y="2990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and down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33832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slows it going up and speeds it coming down: g = 9.8 m/s².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the launch speed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flipV="1">
            <a:off x="914400" y="1920240"/>
            <a:ext cx="3291840" cy="2286000"/>
          </a:xfrm>
          <a:prstGeom prst="line">
            <a:avLst/>
          </a:prstGeom>
          <a:noFill/>
          <a:ln w="444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914400" y="4206240"/>
            <a:ext cx="3291840" cy="0"/>
          </a:xfrm>
          <a:prstGeom prst="line">
            <a:avLst/>
          </a:prstGeom>
          <a:noFill/>
          <a:ln w="31750">
            <a:solidFill>
              <a:srgbClr val="3A8FD9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4206240" y="1920240"/>
            <a:ext cx="0" cy="228600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210312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4297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8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ux = u cos θ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uy = u sin 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840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325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u = 20 m/s at 30°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874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3A8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 sideways (20 x cos 30°)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971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 upwards (20 x sin 30°)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formulas for a throw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578608" cy="3200400"/>
          </a:xfrm>
          <a:prstGeom prst="roundRect">
            <a:avLst>
              <a:gd name="adj" fmla="val 425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17320"/>
            <a:ext cx="731520" cy="731520"/>
          </a:xfrm>
          <a:prstGeom prst="ellipse">
            <a:avLst/>
          </a:prstGeom>
          <a:solidFill>
            <a:srgbClr val="13203B"/>
          </a:solidFill>
          <a:ln w="12700">
            <a:solidFill>
              <a:srgbClr val="13203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159288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in the air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04088" y="2926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8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2u sin θ / 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64408" y="1188720"/>
            <a:ext cx="2578608" cy="3200400"/>
          </a:xfrm>
          <a:prstGeom prst="roundRect">
            <a:avLst>
              <a:gd name="adj" fmla="val 425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38728" y="1417320"/>
            <a:ext cx="731520" cy="731520"/>
          </a:xfrm>
          <a:prstGeom prst="ellipse">
            <a:avLst/>
          </a:prstGeom>
          <a:solidFill>
            <a:srgbClr val="13203B"/>
          </a:solidFill>
          <a:ln w="12700">
            <a:solidFill>
              <a:srgbClr val="13203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293" y="159288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38728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point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465576" y="2926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8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u² sin² θ / 2g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25896" y="1188720"/>
            <a:ext cx="2578608" cy="3200400"/>
          </a:xfrm>
          <a:prstGeom prst="roundRect">
            <a:avLst>
              <a:gd name="adj" fmla="val 4255"/>
            </a:avLst>
          </a:prstGeom>
          <a:solidFill>
            <a:srgbClr val="13203B"/>
          </a:solidFill>
          <a:ln w="12700">
            <a:solidFill>
              <a:srgbClr val="13203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0216" y="1417320"/>
            <a:ext cx="731520" cy="7315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781" y="159288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0216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(how far)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227064" y="2926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u² sin 2θ / g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02920" y="4736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launch speed, θ = launch angle, g = 9.8 m/s². Launch and landing at the same height; no air resistance.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range formula comes from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8138160" cy="91440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1887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 the air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188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8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2u sin θ / 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8138160" cy="91440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= sideways speed x time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286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8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u cos θ x 2u sin θ / g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8138160" cy="914400"/>
          </a:xfrm>
          <a:prstGeom prst="roundRect">
            <a:avLst>
              <a:gd name="adj" fmla="val 12000"/>
            </a:avLst>
          </a:prstGeom>
          <a:solidFill>
            <a:srgbClr val="13203B"/>
          </a:solidFill>
          <a:ln w="12700">
            <a:solidFill>
              <a:srgbClr val="1320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383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 sin θ cos θ = sin 2θ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33832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u² sin 2θ / 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u = 20 m/s at 30°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578608" cy="3200400"/>
          </a:xfrm>
          <a:prstGeom prst="roundRect">
            <a:avLst>
              <a:gd name="adj" fmla="val 4255"/>
            </a:avLst>
          </a:prstGeom>
          <a:solidFill>
            <a:srgbClr val="13203B"/>
          </a:solidFill>
          <a:ln w="12700">
            <a:solidFill>
              <a:srgbClr val="1320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04088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400 x sin 60° / 9.8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35.3 m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264408" y="1188720"/>
            <a:ext cx="2578608" cy="3200400"/>
          </a:xfrm>
          <a:prstGeom prst="roundRect">
            <a:avLst>
              <a:gd name="adj" fmla="val 425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38728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in the air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465576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2 x 20 x sin 30° / 9.8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8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2.04 s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025896" y="1188720"/>
            <a:ext cx="2578608" cy="3200400"/>
          </a:xfrm>
          <a:prstGeom prst="roundRect">
            <a:avLst>
              <a:gd name="adj" fmla="val 425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0216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point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27064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400 x sin² 30° / 19.6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300216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8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 m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736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30° = 0.5, sin 60° = 0.866, u² = 400.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speed, different angles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49377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005840"/>
                <a:gridCol w="123444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Angle 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2θ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 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 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 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 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 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188720"/>
            <a:ext cx="2880360" cy="27432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89320" y="1325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40.8 m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farthest, at 45°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274320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15° and 75° land at the same spot, and so do 30° and 60°.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against launch angle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143000"/>
          <a:ext cx="56692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46520" y="1143000"/>
            <a:ext cx="2194560" cy="342900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2940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45°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62940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peak of the curve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629400" y="2743200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 is symmetric: angles that add up to 90° give the same range.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45° wins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4297680"/>
            <a:ext cx="5120640" cy="0"/>
          </a:xfrm>
          <a:prstGeom prst="line">
            <a:avLst/>
          </a:prstGeom>
          <a:noFill/>
          <a:ln w="25400">
            <a:solidFill>
              <a:srgbClr val="B8C4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474720"/>
            <a:ext cx="4117847" cy="822960"/>
          </a:xfrm>
          <a:custGeom>
            <a:avLst/>
            <a:gdLst/>
            <a:ahLst/>
            <a:cxnLst/>
            <a:rect l="l" t="t" r="r" b="b"/>
            <a:pathLst>
              <a:path w="4117847" h="822960">
                <a:moveTo>
                  <a:pt x="0" y="822960"/>
                </a:moveTo>
                <a:lnTo>
                  <a:pt x="128683" y="723305"/>
                </a:lnTo>
                <a:lnTo>
                  <a:pt x="257365" y="630079"/>
                </a:lnTo>
                <a:lnTo>
                  <a:pt x="386048" y="543282"/>
                </a:lnTo>
                <a:lnTo>
                  <a:pt x="514731" y="462915"/>
                </a:lnTo>
                <a:lnTo>
                  <a:pt x="643414" y="388977"/>
                </a:lnTo>
                <a:lnTo>
                  <a:pt x="772096" y="321469"/>
                </a:lnTo>
                <a:lnTo>
                  <a:pt x="900779" y="260390"/>
                </a:lnTo>
                <a:lnTo>
                  <a:pt x="1029462" y="205740"/>
                </a:lnTo>
                <a:lnTo>
                  <a:pt x="1158144" y="157520"/>
                </a:lnTo>
                <a:lnTo>
                  <a:pt x="1286827" y="115729"/>
                </a:lnTo>
                <a:lnTo>
                  <a:pt x="1415510" y="80367"/>
                </a:lnTo>
                <a:lnTo>
                  <a:pt x="1544193" y="51435"/>
                </a:lnTo>
                <a:lnTo>
                  <a:pt x="1672875" y="28932"/>
                </a:lnTo>
                <a:lnTo>
                  <a:pt x="1801558" y="12859"/>
                </a:lnTo>
                <a:lnTo>
                  <a:pt x="1930241" y="3215"/>
                </a:lnTo>
                <a:lnTo>
                  <a:pt x="2058923" y="0"/>
                </a:lnTo>
                <a:lnTo>
                  <a:pt x="2187606" y="3215"/>
                </a:lnTo>
                <a:lnTo>
                  <a:pt x="2316289" y="12859"/>
                </a:lnTo>
                <a:lnTo>
                  <a:pt x="2444972" y="28932"/>
                </a:lnTo>
                <a:lnTo>
                  <a:pt x="2573654" y="51435"/>
                </a:lnTo>
                <a:lnTo>
                  <a:pt x="2702337" y="80367"/>
                </a:lnTo>
                <a:lnTo>
                  <a:pt x="2831020" y="115729"/>
                </a:lnTo>
                <a:lnTo>
                  <a:pt x="2959702" y="157520"/>
                </a:lnTo>
                <a:lnTo>
                  <a:pt x="3088385" y="205740"/>
                </a:lnTo>
                <a:lnTo>
                  <a:pt x="3217068" y="260390"/>
                </a:lnTo>
                <a:lnTo>
                  <a:pt x="3345751" y="321469"/>
                </a:lnTo>
                <a:lnTo>
                  <a:pt x="3474433" y="388977"/>
                </a:lnTo>
                <a:lnTo>
                  <a:pt x="3603116" y="462915"/>
                </a:lnTo>
                <a:lnTo>
                  <a:pt x="3731799" y="543282"/>
                </a:lnTo>
                <a:lnTo>
                  <a:pt x="3860481" y="630079"/>
                </a:lnTo>
                <a:lnTo>
                  <a:pt x="3989164" y="723305"/>
                </a:lnTo>
                <a:lnTo>
                  <a:pt x="4117847" y="822960"/>
                </a:lnTo>
              </a:path>
            </a:pathLst>
          </a:custGeom>
          <a:ln w="31750">
            <a:solidFill>
              <a:srgbClr val="3A8F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828800"/>
            <a:ext cx="4117847" cy="2468880"/>
          </a:xfrm>
          <a:custGeom>
            <a:avLst/>
            <a:gdLst/>
            <a:ahLst/>
            <a:cxnLst/>
            <a:rect l="l" t="t" r="r" b="b"/>
            <a:pathLst>
              <a:path w="4117847" h="2468880">
                <a:moveTo>
                  <a:pt x="0" y="2468880"/>
                </a:moveTo>
                <a:lnTo>
                  <a:pt x="128683" y="2169914"/>
                </a:lnTo>
                <a:lnTo>
                  <a:pt x="257365" y="1890236"/>
                </a:lnTo>
                <a:lnTo>
                  <a:pt x="386048" y="1629847"/>
                </a:lnTo>
                <a:lnTo>
                  <a:pt x="514731" y="1388745"/>
                </a:lnTo>
                <a:lnTo>
                  <a:pt x="643414" y="1166932"/>
                </a:lnTo>
                <a:lnTo>
                  <a:pt x="772096" y="964406"/>
                </a:lnTo>
                <a:lnTo>
                  <a:pt x="900779" y="781169"/>
                </a:lnTo>
                <a:lnTo>
                  <a:pt x="1029462" y="617220"/>
                </a:lnTo>
                <a:lnTo>
                  <a:pt x="1158144" y="472559"/>
                </a:lnTo>
                <a:lnTo>
                  <a:pt x="1286827" y="347186"/>
                </a:lnTo>
                <a:lnTo>
                  <a:pt x="1415510" y="241102"/>
                </a:lnTo>
                <a:lnTo>
                  <a:pt x="1544193" y="154305"/>
                </a:lnTo>
                <a:lnTo>
                  <a:pt x="1672875" y="86797"/>
                </a:lnTo>
                <a:lnTo>
                  <a:pt x="1801558" y="38576"/>
                </a:lnTo>
                <a:lnTo>
                  <a:pt x="1930241" y="9644"/>
                </a:lnTo>
                <a:lnTo>
                  <a:pt x="2058923" y="0"/>
                </a:lnTo>
                <a:lnTo>
                  <a:pt x="2187606" y="9644"/>
                </a:lnTo>
                <a:lnTo>
                  <a:pt x="2316289" y="38576"/>
                </a:lnTo>
                <a:lnTo>
                  <a:pt x="2444972" y="86797"/>
                </a:lnTo>
                <a:lnTo>
                  <a:pt x="2573654" y="154305"/>
                </a:lnTo>
                <a:lnTo>
                  <a:pt x="2702337" y="241102"/>
                </a:lnTo>
                <a:lnTo>
                  <a:pt x="2831020" y="347186"/>
                </a:lnTo>
                <a:lnTo>
                  <a:pt x="2959702" y="472559"/>
                </a:lnTo>
                <a:lnTo>
                  <a:pt x="3088385" y="617220"/>
                </a:lnTo>
                <a:lnTo>
                  <a:pt x="3217068" y="781169"/>
                </a:lnTo>
                <a:lnTo>
                  <a:pt x="3345751" y="964406"/>
                </a:lnTo>
                <a:lnTo>
                  <a:pt x="3474433" y="1166932"/>
                </a:lnTo>
                <a:lnTo>
                  <a:pt x="3603116" y="1388745"/>
                </a:lnTo>
                <a:lnTo>
                  <a:pt x="3731799" y="1629847"/>
                </a:lnTo>
                <a:lnTo>
                  <a:pt x="3860481" y="1890236"/>
                </a:lnTo>
                <a:lnTo>
                  <a:pt x="3989164" y="2169914"/>
                </a:lnTo>
                <a:lnTo>
                  <a:pt x="4117847" y="2468880"/>
                </a:lnTo>
              </a:path>
            </a:pathLst>
          </a:custGeom>
          <a:ln w="31750">
            <a:solidFill>
              <a:srgbClr val="8E5B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651760"/>
            <a:ext cx="4754880" cy="1645920"/>
          </a:xfrm>
          <a:custGeom>
            <a:avLst/>
            <a:gdLst/>
            <a:ahLst/>
            <a:cxnLst/>
            <a:rect l="l" t="t" r="r" b="b"/>
            <a:pathLst>
              <a:path w="4754880" h="1645920">
                <a:moveTo>
                  <a:pt x="0" y="1645920"/>
                </a:moveTo>
                <a:lnTo>
                  <a:pt x="148590" y="1446609"/>
                </a:lnTo>
                <a:lnTo>
                  <a:pt x="297180" y="1260158"/>
                </a:lnTo>
                <a:lnTo>
                  <a:pt x="445770" y="1086564"/>
                </a:lnTo>
                <a:lnTo>
                  <a:pt x="594360" y="925830"/>
                </a:lnTo>
                <a:lnTo>
                  <a:pt x="742950" y="777954"/>
                </a:lnTo>
                <a:lnTo>
                  <a:pt x="891540" y="642938"/>
                </a:lnTo>
                <a:lnTo>
                  <a:pt x="1040130" y="520779"/>
                </a:lnTo>
                <a:lnTo>
                  <a:pt x="1188720" y="411480"/>
                </a:lnTo>
                <a:lnTo>
                  <a:pt x="1337310" y="315039"/>
                </a:lnTo>
                <a:lnTo>
                  <a:pt x="1485900" y="231458"/>
                </a:lnTo>
                <a:lnTo>
                  <a:pt x="1634490" y="160734"/>
                </a:lnTo>
                <a:lnTo>
                  <a:pt x="1783080" y="102870"/>
                </a:lnTo>
                <a:lnTo>
                  <a:pt x="1931670" y="57864"/>
                </a:lnTo>
                <a:lnTo>
                  <a:pt x="2080260" y="25718"/>
                </a:lnTo>
                <a:lnTo>
                  <a:pt x="2228850" y="6429"/>
                </a:lnTo>
                <a:lnTo>
                  <a:pt x="2377440" y="0"/>
                </a:lnTo>
                <a:lnTo>
                  <a:pt x="2526030" y="6429"/>
                </a:lnTo>
                <a:lnTo>
                  <a:pt x="2674620" y="25718"/>
                </a:lnTo>
                <a:lnTo>
                  <a:pt x="2823210" y="57864"/>
                </a:lnTo>
                <a:lnTo>
                  <a:pt x="2971800" y="102870"/>
                </a:lnTo>
                <a:lnTo>
                  <a:pt x="3120390" y="160734"/>
                </a:lnTo>
                <a:lnTo>
                  <a:pt x="3268980" y="231458"/>
                </a:lnTo>
                <a:lnTo>
                  <a:pt x="3417570" y="315039"/>
                </a:lnTo>
                <a:lnTo>
                  <a:pt x="3566160" y="411480"/>
                </a:lnTo>
                <a:lnTo>
                  <a:pt x="3714750" y="520779"/>
                </a:lnTo>
                <a:lnTo>
                  <a:pt x="3863340" y="642938"/>
                </a:lnTo>
                <a:lnTo>
                  <a:pt x="4011930" y="777954"/>
                </a:lnTo>
                <a:lnTo>
                  <a:pt x="4160520" y="925830"/>
                </a:lnTo>
                <a:lnTo>
                  <a:pt x="4309110" y="1086564"/>
                </a:lnTo>
                <a:lnTo>
                  <a:pt x="4457700" y="1260158"/>
                </a:lnTo>
                <a:lnTo>
                  <a:pt x="4606290" y="1446609"/>
                </a:lnTo>
                <a:lnTo>
                  <a:pt x="4754880" y="1645920"/>
                </a:lnTo>
              </a:path>
            </a:pathLst>
          </a:custGeom>
          <a:ln w="44450">
            <a:solidFill>
              <a:srgbClr val="F28C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3611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8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508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5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97880" y="118872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37160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depends on sin 2θ.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2θ is largest (= 1) when 2θ = 90°, so θ = 45°.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30° and 60° both give 35.3 m: same sin 2θ.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real sport, a bit less than 45°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8138160" cy="91440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640080" cy="640080"/>
          </a:xfrm>
          <a:prstGeom prst="ellipse">
            <a:avLst/>
          </a:prstGeom>
          <a:solidFill>
            <a:srgbClr val="13203B"/>
          </a:solidFill>
          <a:ln w="12700">
            <a:solidFill>
              <a:srgbClr val="13203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4794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1887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resistance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749040" y="11887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slows the ball, so a lower, faster path loses less distance.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267712"/>
            <a:ext cx="8138160" cy="91440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404872"/>
            <a:ext cx="640080" cy="640080"/>
          </a:xfrm>
          <a:prstGeom prst="ellipse">
            <a:avLst/>
          </a:prstGeom>
          <a:solidFill>
            <a:srgbClr val="13203B"/>
          </a:solidFill>
          <a:ln w="12700">
            <a:solidFill>
              <a:srgbClr val="13203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" y="2558491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2267712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height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749040" y="226771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Throwers release above the ground, which also favours a lower angle.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02920" y="3346704"/>
            <a:ext cx="8138160" cy="914400"/>
          </a:xfrm>
          <a:prstGeom prst="roundRect">
            <a:avLst>
              <a:gd name="adj" fmla="val 12000"/>
            </a:avLst>
          </a:prstGeom>
          <a:solidFill>
            <a:srgbClr val="13203B"/>
          </a:solidFill>
          <a:ln w="12700">
            <a:solidFill>
              <a:srgbClr val="13203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483864"/>
            <a:ext cx="640080" cy="6400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3637483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346704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in practice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3749040" y="334670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angle is usually somewhat below 45°.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2971800"/>
            <a:ext cx="438912" cy="43891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9718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 speed stays the same; gravity changes the up-down speed.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593592"/>
            <a:ext cx="438912" cy="43891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593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59359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R = u² sin 2θ / 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215384"/>
            <a:ext cx="438912" cy="43891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215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215384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45° gives the farthest range; 30° and 60° tie.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Projectile Motion</dc:title>
  <dc:subject>PptxGenJS Presentation</dc:subject>
  <dc:creator>Eris demo</dc:creator>
  <cp:lastModifiedBy>Eris demo</cp:lastModifiedBy>
  <cp:revision>1</cp:revision>
  <dcterms:created xsi:type="dcterms:W3CDTF">2026-10-26T11:18:20Z</dcterms:created>
  <dcterms:modified xsi:type="dcterms:W3CDTF">2026-10-26T11:18:20Z</dcterms:modified>
</cp:coreProperties>
</file>