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Calibri"/>
              </a:rPr>
              <a:t>Top (peak) import duty,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import duty (%)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1990-91</c:v>
                  </c:pt>
                  <c:pt idx="1">
                    <c:v>1991-92</c:v>
                  </c:pt>
                  <c:pt idx="2">
                    <c:v>1994-95</c:v>
                  </c:pt>
                  <c:pt idx="3">
                    <c:v>1995-96</c:v>
                  </c:pt>
                  <c:pt idx="4">
                    <c:v>1997-98</c:v>
                  </c:pt>
                  <c:pt idx="5">
                    <c:v>2002-03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</c:v>
                </c:pt>
                <c:pt idx="1">
                  <c:v>150</c:v>
                </c:pt>
                <c:pt idx="2">
                  <c:v>65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Calibri"/>
              </a:rPr>
              <a:t>India: exports + imports as % of GDP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Trade (% of GDP)</c:v>
                </c:pt>
              </c:strCache>
            </c:strRef>
          </c:tx>
          <c:spPr>
            <a:solidFill>
              <a:srgbClr val="3A7D5C"/>
            </a:solidFill>
            <a:ln w="38100" cap="flat">
              <a:solidFill>
                <a:srgbClr val="3A7D5C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4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A7D5C"/>
              </a:solidFill>
              <a:ln w="9525" cap="flat">
                <a:solidFill>
                  <a:srgbClr val="3A7D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1990</c:v>
                  </c:pt>
                  <c:pt idx="1">
                    <c:v>2000</c:v>
                  </c:pt>
                  <c:pt idx="2">
                    <c:v>2008</c:v>
                  </c:pt>
                  <c:pt idx="3">
                    <c:v>2012</c:v>
                  </c:pt>
                  <c:pt idx="4">
                    <c:v>2016</c:v>
                  </c:pt>
                  <c:pt idx="5">
                    <c:v>2020</c:v>
                  </c:pt>
                  <c:pt idx="6">
                    <c:v>2022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27</c:v>
                </c:pt>
                <c:pt idx="2">
                  <c:v>52</c:v>
                </c:pt>
                <c:pt idx="3">
                  <c:v>56</c:v>
                </c:pt>
                <c:pt idx="4">
                  <c:v>40</c:v>
                </c:pt>
                <c:pt idx="5">
                  <c:v>38</c:v>
                </c:pt>
                <c:pt idx="6">
                  <c:v>50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2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Calibri"/>
              </a:rPr>
              <a:t>Foreign direct investment into India, US$ million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FDI inflow ($ million)</c:v>
                </c:pt>
              </c:strCache>
            </c:strRef>
          </c:tx>
          <c:spPr>
            <a:solidFill>
              <a:srgbClr val="3A7D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1990-91</c:v>
                  </c:pt>
                  <c:pt idx="1">
                    <c:v>1991-92</c:v>
                  </c:pt>
                  <c:pt idx="2">
                    <c:v>1992-93</c:v>
                  </c:pt>
                  <c:pt idx="3">
                    <c:v>1993-94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129</c:v>
                </c:pt>
                <c:pt idx="2">
                  <c:v>315</c:v>
                </c:pt>
                <c:pt idx="3">
                  <c:v>586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1991 Reforms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opening up changed India's trade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1D5442"/>
          </a:solidFill>
          <a:ln w="12700">
            <a:solidFill>
              <a:srgbClr val="1D54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06040" y="374904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reforms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374904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1D5442"/>
          </a:solidFill>
          <a:ln w="12700">
            <a:solidFill>
              <a:srgbClr val="1D54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before 1991: a closed economy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A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was trade (exports + imports), 1990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64408" y="11887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1325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300%+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import duty on some goods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25896" y="1188720"/>
            <a:ext cx="2578608" cy="1828800"/>
          </a:xfrm>
          <a:prstGeom prst="roundRect">
            <a:avLst>
              <a:gd name="adj" fmla="val 6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325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A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$97M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direct investment, 1990-91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8138160" cy="1143000"/>
          </a:xfrm>
          <a:prstGeom prst="roundRect">
            <a:avLst>
              <a:gd name="adj" fmla="val 9600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56432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3642970"/>
            <a:ext cx="404165" cy="40416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737360" y="338328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raj: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needed government permission to start, expand or import, and foreign companies were kept out.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World Bank, Trade (% of GDP), rounded; Economic Survey of India; RBI.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crisis built up, 1990-91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938528"/>
            <a:ext cx="7498080" cy="0"/>
          </a:xfrm>
          <a:prstGeom prst="line">
            <a:avLst/>
          </a:prstGeom>
          <a:noFill/>
          <a:ln w="25400">
            <a:solidFill>
              <a:srgbClr val="C7D6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" y="1737360"/>
            <a:ext cx="402336" cy="402336"/>
          </a:xfrm>
          <a:prstGeom prst="ellipse">
            <a:avLst/>
          </a:prstGeom>
          <a:solidFill>
            <a:srgbClr val="0E3B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1990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War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prices jump and money sent home by Gulf workers falls.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88336" y="1737360"/>
            <a:ext cx="402336" cy="402336"/>
          </a:xfrm>
          <a:prstGeom prst="ellipse">
            <a:avLst/>
          </a:prstGeom>
          <a:solidFill>
            <a:srgbClr val="0E3B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8608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1990-91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78608" y="23774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uncertainty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governments in a year; investors lose confidence.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64024" y="1737360"/>
            <a:ext cx="402336" cy="402336"/>
          </a:xfrm>
          <a:prstGeom prst="ellipse">
            <a:avLst/>
          </a:prstGeom>
          <a:solidFill>
            <a:srgbClr val="0E3B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4296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1991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54296" y="23774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18888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Reserves run low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18888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exchange falls to about $1.2 billion.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39712" y="1737360"/>
            <a:ext cx="402336" cy="402336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9984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1991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9984" y="23774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94576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pledged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94576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RBI pledges gold abroad and India borrows from the IMF.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crisis in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649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weeks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546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imports was all India's reserves could pay for by mid-1991 (estimates range from two to three weeks).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1234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3%+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deficit, as a share of GDP, by March 1991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288036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2926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A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$1.2B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exchange reserves, January 1991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RBI; Economic Survey 1991-92; figures rounded.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response: three big reforms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649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import duties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632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duty fell from over 300% to 150% in 1991-92, and kept falling.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4408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38728" y="1463040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66" y="164957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Devalue the rupee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30632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18-19% in two steps in July 1991, making exports cheaper abroad.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25896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0216" y="1463040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164957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0216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foreign investment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30632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approval for up to 51% foreign ownership in priority industries.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duties came down step by step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4300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143000"/>
            <a:ext cx="2194560" cy="3429000"/>
          </a:xfrm>
          <a:prstGeom prst="roundRect">
            <a:avLst>
              <a:gd name="adj" fmla="val 5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A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-90%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in the top duty, 1990-91 to 2002-03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83464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1991 some goods faced duties of 300% or more; 300 is shown here.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Union Budgets; RBI; USTR reports. Pre-reform peak estimates range from about 300% to 400%.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grew as a share of the economy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4300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143000"/>
            <a:ext cx="2194560" cy="3429000"/>
          </a:xfrm>
          <a:prstGeom prst="roundRect">
            <a:avLst>
              <a:gd name="adj" fmla="val 5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A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~4x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about 15% in 1990 to a peak near 56% in 2012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88036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Dips follow world events: the 2009 slowdown and the 2020 pandemic.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Bank, Trade (% of GDP), India, rounded.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investment took off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4300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143000"/>
            <a:ext cx="2194560" cy="3429000"/>
          </a:xfrm>
          <a:prstGeom prst="roundRect">
            <a:avLst>
              <a:gd name="adj" fmla="val 5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three years, from $97M to $586M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88036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1994-95, yearly FDI had passed $1 billion.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Economic Survey of India (direct investment, balance of payments tables).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percentage change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822960"/>
          </a:xfrm>
          <a:prstGeom prst="roundRect">
            <a:avLst>
              <a:gd name="adj" fmla="val 13333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change  =  (new - old) / old  x  100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2578608" cy="2103120"/>
          </a:xfrm>
          <a:prstGeom prst="roundRect">
            <a:avLst>
              <a:gd name="adj" fmla="val 5217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minus old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586 - 97 = 489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64408" y="2286000"/>
            <a:ext cx="2578608" cy="2103120"/>
          </a:xfrm>
          <a:prstGeom prst="roundRect">
            <a:avLst>
              <a:gd name="adj" fmla="val 5217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246888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87368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old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489 / 97 = 5.04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25896" y="2286000"/>
            <a:ext cx="2578608" cy="2103120"/>
          </a:xfrm>
          <a:prstGeom prst="roundRect">
            <a:avLst>
              <a:gd name="adj" fmla="val 5217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246888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100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5.04 x 100 = 504%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rose by about 504% from 1990-91 to 1993-94.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crisis to more trade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1371600" cy="2103120"/>
          </a:xfrm>
          <a:prstGeom prst="roundRect">
            <a:avLst>
              <a:gd name="adj" fmla="val 8000"/>
            </a:avLst>
          </a:prstGeom>
          <a:solidFill>
            <a:srgbClr val="F6E3D3"/>
          </a:solidFill>
          <a:ln w="12700">
            <a:solidFill>
              <a:srgbClr val="F6E3D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12648" y="1691640"/>
            <a:ext cx="1152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Crisis: reserves run out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01952" y="2505456"/>
            <a:ext cx="274320" cy="292608"/>
          </a:xfrm>
          <a:prstGeom prst="rightArrow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85416" y="1600200"/>
            <a:ext cx="1371600" cy="2103120"/>
          </a:xfrm>
          <a:prstGeom prst="roundRect">
            <a:avLst>
              <a:gd name="adj" fmla="val 8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295144" y="1691640"/>
            <a:ext cx="1152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Reforms: duties cut, rupee devalued, FDI allowed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84448" y="2505456"/>
            <a:ext cx="274320" cy="292608"/>
          </a:xfrm>
          <a:prstGeom prst="rightArrow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67912" y="1600200"/>
            <a:ext cx="1371600" cy="2103120"/>
          </a:xfrm>
          <a:prstGeom prst="roundRect">
            <a:avLst>
              <a:gd name="adj" fmla="val 8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977640" y="1691640"/>
            <a:ext cx="1152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cheaper, exports more competitive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66944" y="2505456"/>
            <a:ext cx="274320" cy="292608"/>
          </a:xfrm>
          <a:prstGeom prst="rightArrow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50408" y="1600200"/>
            <a:ext cx="1371600" cy="2103120"/>
          </a:xfrm>
          <a:prstGeom prst="roundRect">
            <a:avLst>
              <a:gd name="adj" fmla="val 8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660136" y="1691640"/>
            <a:ext cx="1152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trade and investment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2505456"/>
            <a:ext cx="274320" cy="292608"/>
          </a:xfrm>
          <a:prstGeom prst="rightArrow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32904" y="1600200"/>
            <a:ext cx="1371600" cy="21031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42632" y="1691640"/>
            <a:ext cx="1152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growth in the 1990s and 2000s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023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made the next one possible; none of them alone would have opened the economy.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side of the story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252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gained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and IT services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Consumers: more choice, lower prices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that could import better machines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BEEE6"/>
          </a:solidFill>
          <a:ln w="12700">
            <a:solidFill>
              <a:srgbClr val="FBEE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71600"/>
            <a:ext cx="640080" cy="640080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099" y="15252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struggled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 facing cheap imports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farmers and informal workers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between rich and poor widened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971800"/>
            <a:ext cx="438912" cy="438912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9718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payments crisis forced India to open up in 1991.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593592"/>
            <a:ext cx="438912" cy="438912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593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5935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duties, a cheaper rupee and FDI rules drove trade 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215384"/>
            <a:ext cx="438912" cy="438912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21538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were large, but not shared equally.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India's 1991 Reforms</dc:title>
  <dc:subject>PptxGenJS Presentation</dc:subject>
  <dc:creator>Eris demo</dc:creator>
  <cp:lastModifiedBy>Eris demo</cp:lastModifiedBy>
  <cp:revision>1</cp:revision>
  <dcterms:created xsi:type="dcterms:W3CDTF">2026-10-26T11:17:56Z</dcterms:created>
  <dcterms:modified xsi:type="dcterms:W3CDTF">2026-10-26T11:17:56Z</dcterms:modified>
</cp:coreProperties>
</file>