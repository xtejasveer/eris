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5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533"/>
                </a:solidFill>
                <a:latin typeface="Calibri"/>
              </a:rPr>
              <a:t>A ball thrown up at 10 m/s: height against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Height (m)</c:v>
                </c:pt>
              </c:strCache>
            </c:strRef>
          </c:tx>
          <c:spPr>
            <a:solidFill>
              <a:srgbClr val="F28C28"/>
            </a:solidFill>
            <a:ln w="38100" cap="flat">
              <a:solidFill>
                <a:srgbClr val="F28C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5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8C28"/>
              </a:solidFill>
              <a:ln w="9525" cap="flat">
                <a:solidFill>
                  <a:srgbClr val="F28C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0s</c:v>
                  </c:pt>
                  <c:pt idx="1">
                    <c:v>0.25s</c:v>
                  </c:pt>
                  <c:pt idx="2">
                    <c:v>0.5s</c:v>
                  </c:pt>
                  <c:pt idx="3">
                    <c:v>0.75s</c:v>
                  </c:pt>
                  <c:pt idx="4">
                    <c:v>1s</c:v>
                  </c:pt>
                  <c:pt idx="5">
                    <c:v>1.25s</c:v>
                  </c:pt>
                  <c:pt idx="6">
                    <c:v>1.5s</c:v>
                  </c:pt>
                  <c:pt idx="7">
                    <c:v>1.75s</c:v>
                  </c:pt>
                  <c:pt idx="8">
                    <c:v>2s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2.19</c:v>
                </c:pt>
                <c:pt idx="2">
                  <c:v>3.77</c:v>
                </c:pt>
                <c:pt idx="3">
                  <c:v>4.74</c:v>
                </c:pt>
                <c:pt idx="4">
                  <c:v>5.1</c:v>
                </c:pt>
                <c:pt idx="5">
                  <c:v>4.84</c:v>
                </c:pt>
                <c:pt idx="6">
                  <c:v>3.97</c:v>
                </c:pt>
                <c:pt idx="7">
                  <c:v>2.49</c:v>
                </c:pt>
                <c:pt idx="8">
                  <c:v>0.4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25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3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3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Vectors, Sine and Cosine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8A4F78"/>
          </a:solidFill>
          <a:ln w="12700">
            <a:solidFill>
              <a:srgbClr val="8A4F7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and motion you need before projectile motion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before: Projectile motion: why 45° goes farthest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Scalars and vectors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731520" cy="73152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159288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Scalar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only a size.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20 m/s. Mass: 2 kg. Time: 3 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1417320"/>
            <a:ext cx="731520" cy="7315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045" y="15928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978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3774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size and a direction.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Velocity: 20 m/s at 30° above the ground.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right triangle: sine and cosine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914400" y="1737360"/>
            <a:ext cx="3291840" cy="2377440"/>
          </a:xfrm>
          <a:prstGeom prst="line">
            <a:avLst/>
          </a:prstGeom>
          <a:noFill/>
          <a:ln w="44450">
            <a:solidFill>
              <a:srgbClr val="F28C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4114800"/>
            <a:ext cx="3291840" cy="0"/>
          </a:xfrm>
          <a:prstGeom prst="line">
            <a:avLst/>
          </a:prstGeom>
          <a:noFill/>
          <a:ln w="38100">
            <a:solidFill>
              <a:srgbClr val="3A8F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737360"/>
            <a:ext cx="0" cy="237744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 rot="-2160000">
            <a:off x="14173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hypotenuse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8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749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60720" y="1188720"/>
            <a:ext cx="2880360" cy="3200400"/>
          </a:xfrm>
          <a:prstGeom prst="roundRect">
            <a:avLst>
              <a:gd name="adj" fmla="val 381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14173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θ =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opposite / hypotenuse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331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 θ =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adjacent / hypotenuse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291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is the angle at the bottom left corner.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you will use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7909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25880"/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90°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A8F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θ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C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3154680"/>
            <a:ext cx="8138160" cy="123444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rises from 0 to 1 as the angle grows; cos falls from 1 to 0.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30° = cos 60° and sin 60° = cos 30°: angles that add up to 90° swap values.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a vector into two parts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flipV="1">
            <a:off x="914400" y="2286000"/>
            <a:ext cx="3200400" cy="1828800"/>
          </a:xfrm>
          <a:prstGeom prst="line">
            <a:avLst/>
          </a:prstGeom>
          <a:noFill/>
          <a:ln w="4445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4400" y="4114800"/>
            <a:ext cx="3200400" cy="0"/>
          </a:xfrm>
          <a:prstGeom prst="line">
            <a:avLst/>
          </a:prstGeom>
          <a:noFill/>
          <a:ln w="31750">
            <a:solidFill>
              <a:srgbClr val="3A8FD9"/>
            </a:solidFill>
            <a:prstDash val="dash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4114800" y="2286000"/>
            <a:ext cx="0" cy="1828800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118872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m/s at 30°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cos 30° = 8.66 m/s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sin 30° = 5 m/s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188720"/>
            <a:ext cx="2286000" cy="3200400"/>
          </a:xfrm>
          <a:prstGeom prst="roundRect">
            <a:avLst>
              <a:gd name="adj" fmla="val 48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371600"/>
            <a:ext cx="1965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C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slanted velocity can be split into a sideways part and an upward part. Each part can then be worked out on its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Thrown straight up: gravity at work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143000"/>
          <a:ext cx="5577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55080" y="1143000"/>
            <a:ext cx="2286000" cy="3429000"/>
          </a:xfrm>
          <a:prstGeom prst="roundRect">
            <a:avLst>
              <a:gd name="adj" fmla="val 48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37960" y="1325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A8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1.02 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537960" y="2148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the top (10 / 9.8)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537960" y="2743200"/>
            <a:ext cx="1965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takes 9.8 m/s off the upward speed every second, then speeds it back up on the way down.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2920" y="2926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equations of motion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78608" cy="237744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after time 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u + a 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64408" y="1188720"/>
            <a:ext cx="2578608" cy="2377440"/>
          </a:xfrm>
          <a:prstGeom prst="roundRect">
            <a:avLst>
              <a:gd name="adj" fmla="val 4615"/>
            </a:avLst>
          </a:prstGeom>
          <a:solidFill>
            <a:srgbClr val="13203B"/>
          </a:solidFill>
          <a:ln w="12700">
            <a:solidFill>
              <a:srgbClr val="1320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in time 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8C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u t + ½ a t²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25896" y="1188720"/>
            <a:ext cx="2578608" cy="2377440"/>
          </a:xfrm>
          <a:prstGeom prst="roundRect">
            <a:avLst>
              <a:gd name="adj" fmla="val 461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after distance 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54496" y="2194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8F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v² = u² + 2 a 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starting speed, v = final speed, a = acceleration (for gravity, a = -9.8 m/s² going up), t = time, s = distance.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30815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vector has a size and a direction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557016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3493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and cos split a vector into two parts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03250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6849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changes the up-down speed by 9.8 m/s each second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4553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Projectile motion: both motions at once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Vectors, Sine and Cosine</dc:title>
  <dc:subject>PptxGenJS Presentation</dc:subject>
  <dc:creator>Eris demo</dc:creator>
  <cp:lastModifiedBy>Eris demo</cp:lastModifiedBy>
  <cp:revision>1</cp:revision>
  <dcterms:created xsi:type="dcterms:W3CDTF">2026-10-26T11:26:06Z</dcterms:created>
  <dcterms:modified xsi:type="dcterms:W3CDTF">2026-10-26T11:26:06Z</dcterms:modified>
</cp:coreProperties>
</file>