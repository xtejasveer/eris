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Relative SN2 rate (ethyl bromide = 1)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SN2 rate with I⁻ in acetone</c:v>
                </c:pt>
              </c:strCache>
            </c:strRef>
          </c:tx>
          <c:spPr>
            <a:solidFill>
              <a:srgbClr val="1B6E66"/>
            </a:solidFill>
          </c:spPr>
          <c:cat>
            <c:strRef>
              <c:f>Sheet1!$A$2:$A$5</c:f>
              <c:strCache>
                <c:ptCount val="4"/>
                <c:pt idx="0">
                  <c:v>Methyl (CH₃Br)</c:v>
                </c:pt>
                <c:pt idx="1">
                  <c:v>1° (CH₃CH₂Br)</c:v>
                </c:pt>
                <c:pt idx="2">
                  <c:v>2° ((CH₃)₂CHBr)</c:v>
                </c:pt>
                <c:pt idx="3">
                  <c:v>3° ((CH₃)₃CBr)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</c:v>
                </c:pt>
                <c:pt idx="2">
                  <c:v>0.03</c:v>
                </c:pt>
                <c:pt idx="3">
                  <c:v>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C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nucleophilic substitution in haloalkanes and the two mechanisms, SN1 and SN2.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nucleophile, substrate and leaving group with the bromomethane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single concerted step, backside attack, inversion and the second-order rate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steps: slow ionisation to a carbocation, then fast attack. First-order rate law and racemisation.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 chart shows relative SN2 rates with iodide in acetone. Steric hindrance explains the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two mechanisms on steps, rate law, substrate, stereochemistry, nucleophile and solvent.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the mechanism from substrate, nucleophile and solvent, then predict the product and its stereochemistry.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practice questions covering rate laws, substrate order, stereochemistry, solvent and leaving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9FD6CF"/>
                </a:solidFill>
                <a:latin typeface="Calibri"/>
              </a:rPr>
              <a:t>ORGANIC CHEMISTRY · HALOALKANES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Nucleophilic substitution:</a:t>
            </a:r>
          </a:p>
          <a:p>
            <a:pPr algn="l">
              <a:spcAft>
                <a:spcPts val="216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SN1 vs SN2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D8DDE8"/>
                </a:solidFill>
                <a:latin typeface="Calibri"/>
              </a:rPr>
              <a:t>How a haloalkane swaps its halogen for a nucleophile, and why the same reaction can follow two different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 i="0">
                <a:solidFill>
                  <a:srgbClr val="A9B3C7"/>
                </a:solidFill>
                <a:latin typeface="Calibri"/>
              </a:rPr>
              <a:t>Class 12 Chemistry · Unit: Haloalkanes and Haloarenes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THE REACTION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What is nucleophilic substitution?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 i="0">
                <a:solidFill>
                  <a:srgbClr val="1B6E66"/>
                </a:solidFill>
                <a:latin typeface="Cambria"/>
              </a:rPr>
              <a:t>Nu⁻</a:t>
            </a:r>
            <a:r>
              <a:rPr sz="3400" b="0" i="0">
                <a:solidFill>
                  <a:srgbClr val="1F2A44"/>
                </a:solidFill>
                <a:latin typeface="Cambria"/>
              </a:rPr>
              <a:t>  +  R–X   →   R–</a:t>
            </a:r>
            <a:r>
              <a:rPr sz="3400" b="1" i="0">
                <a:solidFill>
                  <a:srgbClr val="1B6E66"/>
                </a:solidFill>
                <a:latin typeface="Cambria"/>
              </a:rPr>
              <a:t>Nu</a:t>
            </a:r>
            <a:r>
              <a:rPr sz="3400" b="0" i="0">
                <a:solidFill>
                  <a:srgbClr val="1F2A44"/>
                </a:solidFill>
                <a:latin typeface="Cambria"/>
              </a:rPr>
              <a:t>  +  </a:t>
            </a:r>
            <a:r>
              <a:rPr sz="3400" b="1" i="0">
                <a:solidFill>
                  <a:srgbClr val="B45309"/>
                </a:solidFill>
                <a:latin typeface="Cambria"/>
              </a:rPr>
              <a:t>X⁻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B6E66"/>
                </a:solidFill>
                <a:latin typeface="Calibri"/>
              </a:rPr>
              <a:t>Nucleophile (Nu⁻)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3017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An electron-rich species that attacks carbon: OH⁻, CN⁻, NH₃, H₂O.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461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F2A44"/>
                </a:solidFill>
                <a:latin typeface="Calibri"/>
              </a:rPr>
              <a:t>Substrate (R–X)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3017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The haloalkane. The C–X bond is polar: carbon is δ+, the halogen δ−.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2461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34290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B45309"/>
                </a:solidFill>
                <a:latin typeface="Calibri"/>
              </a:rPr>
              <a:t>Leaving group (X⁻)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931920"/>
            <a:ext cx="3017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Leaves with the bonding pair. Better leaving group: I⁻ &gt; Br⁻ &gt; Cl⁻ &gt; F⁻.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5F625D"/>
                </a:solidFill>
                <a:latin typeface="Calibri"/>
              </a:rPr>
              <a:t>Example:  </a:t>
            </a:r>
            <a:r>
              <a:rPr sz="1700" b="0" i="0">
                <a:solidFill>
                  <a:srgbClr val="5F625D"/>
                </a:solidFill>
                <a:latin typeface="Calibri"/>
              </a:rPr>
              <a:t>CH₃Br + OH⁻ → CH₃OH + Br⁻   (bromomethane → methanol)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MECHANISM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SN2: one step, backside attack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918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90"/>
              </a:spcAft>
            </a:pPr>
            <a:r>
              <a:rPr sz="2200" b="1" i="0">
                <a:solidFill>
                  <a:srgbClr val="1B6E66"/>
                </a:solidFill>
                <a:latin typeface="Cambria"/>
              </a:rPr>
              <a:t>HO⁻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77639" y="2441448"/>
            <a:ext cx="411481" cy="0"/>
          </a:xfrm>
          <a:prstGeom prst="line">
            <a:avLst/>
          </a:prstGeom>
          <a:ln w="2857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178308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32918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90"/>
              </a:spcAft>
            </a:pPr>
            <a:r>
              <a:rPr sz="2200" b="1" i="0">
                <a:solidFill>
                  <a:srgbClr val="1F2A44"/>
                </a:solidFill>
                <a:latin typeface="Cambria"/>
              </a:rPr>
              <a:t>[HO···C···Br]⁻</a:t>
            </a:r>
          </a:p>
          <a:p>
            <a:pPr algn="ctr">
              <a:spcAft>
                <a:spcPts val="990"/>
              </a:spcAft>
            </a:pPr>
            <a:r>
              <a:rPr sz="2200" b="1" i="0">
                <a:solidFill>
                  <a:srgbClr val="1F2A44"/>
                </a:solidFill>
                <a:latin typeface="Cambria"/>
              </a:rPr>
              <a:t>transition state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41448"/>
            <a:ext cx="411479" cy="0"/>
          </a:xfrm>
          <a:prstGeom prst="line">
            <a:avLst/>
          </a:prstGeom>
          <a:ln w="2857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178308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2918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90"/>
              </a:spcAft>
            </a:pPr>
            <a:r>
              <a:rPr sz="2200" b="1" i="0">
                <a:solidFill>
                  <a:srgbClr val="B45309"/>
                </a:solidFill>
                <a:latin typeface="Cambria"/>
              </a:rPr>
              <a:t>HO–C  +  Br⁻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051560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F2A44"/>
                </a:solidFill>
                <a:latin typeface="Calibri"/>
              </a:rPr>
              <a:t>One step: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the C–Nu bond forms while the C–X bond breaks.</a:t>
            </a:r>
          </a:p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F2A44"/>
                </a:solidFill>
                <a:latin typeface="Calibri"/>
              </a:rPr>
              <a:t>Backside attack: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the nucleophile comes in at 180° to the leaving group.</a:t>
            </a:r>
          </a:p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F2A44"/>
                </a:solidFill>
                <a:latin typeface="Calibri"/>
              </a:rPr>
              <a:t>Inversion of configuration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(Walden inversion): an (R) substrate gives the (S) product.</a:t>
            </a:r>
          </a:p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B6E66"/>
                </a:solidFill>
                <a:latin typeface="Calibri"/>
              </a:rPr>
              <a:t>Rate = k[R–X][Nu⁻]: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second order, so both concentrations matter.</a:t>
            </a:r>
          </a:p>
          <a:p>
            <a:pPr algn="l">
              <a:spcAft>
                <a:spcPts val="855"/>
              </a:spcAft>
            </a:pPr>
            <a:r>
              <a:rPr sz="1900" b="1" i="0">
                <a:solidFill>
                  <a:srgbClr val="1F2A44"/>
                </a:solidFill>
                <a:latin typeface="Calibri"/>
              </a:rPr>
              <a:t>Fastest for methyl and 1° haloalkanes;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bulky groups block the back of the carbon.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MECHANISM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SN1: two steps, through a carbocation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B45309"/>
                </a:solidFill>
                <a:latin typeface="Calibri"/>
              </a:rPr>
              <a:t>Step 1 (slow)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8321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90"/>
              </a:spcAft>
            </a:pPr>
            <a:r>
              <a:rPr sz="2200" b="1" i="0">
                <a:solidFill>
                  <a:srgbClr val="1F2A44"/>
                </a:solidFill>
                <a:latin typeface="Cambria"/>
              </a:rPr>
              <a:t>(CH₃)₃C–Br  →  (CH₃)₃C⁺  +  Br⁻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23160"/>
            <a:ext cx="8321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5F625D"/>
                </a:solidFill>
                <a:latin typeface="Calibri"/>
              </a:rPr>
              <a:t>The C–Br bond breaks on its own and a carbocation forms. This step sets the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1B6E66"/>
                </a:solidFill>
                <a:latin typeface="Calibri"/>
              </a:rPr>
              <a:t>Step 2 (fast)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29000"/>
            <a:ext cx="8321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90"/>
              </a:spcAft>
            </a:pPr>
            <a:r>
              <a:rPr sz="2200" b="1" i="0">
                <a:solidFill>
                  <a:srgbClr val="1F2A44"/>
                </a:solidFill>
                <a:latin typeface="Cambria"/>
              </a:rPr>
              <a:t>(CH₃)₃C⁺  +  OH⁻  →  (CH₃)₃C–OH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23360"/>
            <a:ext cx="8321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5F625D"/>
                </a:solidFill>
                <a:latin typeface="Calibri"/>
              </a:rPr>
              <a:t>The flat carbocation is attacked from either face by the nucleophile.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B45309"/>
                </a:solidFill>
                <a:latin typeface="Calibri"/>
              </a:rPr>
              <a:t>Rate = k[R–X]: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first order; the nucleophile's concentration does not change the rate.</a:t>
            </a:r>
          </a:p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1F2A44"/>
                </a:solidFill>
                <a:latin typeface="Calibri"/>
              </a:rPr>
              <a:t>Racemisation: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a chiral substrate gives a mixture of both enantiomers.</a:t>
            </a:r>
          </a:p>
          <a:p>
            <a:pPr algn="l">
              <a:spcAft>
                <a:spcPts val="810"/>
              </a:spcAft>
            </a:pPr>
            <a:r>
              <a:rPr sz="1800" b="1" i="0">
                <a:solidFill>
                  <a:srgbClr val="1F2A44"/>
                </a:solidFill>
                <a:latin typeface="Calibri"/>
              </a:rPr>
              <a:t>Fastest for 3° haloalkanes,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whose carbocation is the most stable: 3° &gt; 2° &gt; 1° &gt; methyl.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THE SUBSTRATE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Relative SN2 rate falls as the carbon gets crowded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4592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73736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1920240"/>
            <a:ext cx="3108960" cy="2834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 i="0">
                <a:solidFill>
                  <a:srgbClr val="1F2A44"/>
                </a:solidFill>
                <a:latin typeface="Calibri"/>
              </a:rPr>
              <a:t>Read the chart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Each extra methyl group crowds the back of the carbon, so the nucleophile can't get in.</a:t>
            </a:r>
          </a:p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Methyl bromide reacts about 30 times faster than ethyl bromide.</a:t>
            </a:r>
          </a:p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1F2A44"/>
                </a:solidFill>
                <a:latin typeface="Calibri"/>
              </a:rPr>
              <a:t>3° haloalkanes almost never react by SN2; </a:t>
            </a:r>
            <a:r>
              <a:rPr sz="1600" b="0" i="0">
                <a:solidFill>
                  <a:srgbClr val="1F2A44"/>
                </a:solidFill>
                <a:latin typeface="Calibri"/>
              </a:rPr>
              <a:t>they go by SN1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SN1 vs SN2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69080"/>
                <a:gridCol w="4069080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6459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SN1</a:t>
                      </a:r>
                    </a:p>
                  </a:txBody>
                  <a:tcPr anchor="ctr" marL="16459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SN2</a:t>
                      </a:r>
                    </a:p>
                  </a:txBody>
                  <a:tcPr anchor="ctr" marL="164592">
                    <a:solidFill>
                      <a:srgbClr val="1F2A4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Two (carbocation intermediate)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One (concerted)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Rate law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Rate = k[R–X]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Rate = k[R–X][Nu⁻]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Best substrate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3° &gt; 2°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Methyl &gt; 1° &gt; 2°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Stereochemistry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Racemisation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Inversion of configuration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Nucleophile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Weak is fine (H₂O, ROH)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Strong needed (OH⁻, CN⁻, I⁻)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44"/>
                          </a:solidFill>
                          <a:latin typeface="Calibri"/>
                        </a:rPr>
                        <a:t>Solvent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B45309"/>
                          </a:solidFill>
                          <a:latin typeface="Calibri"/>
                        </a:rPr>
                        <a:t>Polar protic (water, alcohols)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6E66"/>
                          </a:solidFill>
                          <a:latin typeface="Calibri"/>
                        </a:rPr>
                        <a:t>Polar aprotic (acetone, DMSO)</a:t>
                      </a:r>
                    </a:p>
                  </a:txBody>
                  <a:tcPr anchor="ctr" marL="164592">
                    <a:solidFill>
                      <a:srgbClr val="EF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WORKED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Which mechanism, and what product?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1B6E66"/>
                </a:solidFill>
                <a:latin typeface="Calibri"/>
              </a:rPr>
              <a:t>Example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1" i="0">
                <a:solidFill>
                  <a:srgbClr val="1F2A44"/>
                </a:solidFill>
                <a:latin typeface="Cambria"/>
              </a:rPr>
              <a:t>(R)-2-bromobutane  +  NaOH  in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8463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2° substrate, strong nucleophile (OH⁻), polar aprotic solvent  →  SN2.</a:t>
            </a:r>
          </a:p>
          <a:p>
            <a:pPr algn="l">
              <a:spcAft>
                <a:spcPts val="765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Backside attack inverts the carbon.</a:t>
            </a:r>
          </a:p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1B6E66"/>
                </a:solidFill>
                <a:latin typeface="Calibri"/>
              </a:rPr>
              <a:t>Product: (S)-butan-2-ol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 i="0">
                <a:solidFill>
                  <a:srgbClr val="B45309"/>
                </a:solidFill>
                <a:latin typeface="Calibri"/>
              </a:rPr>
              <a:t>Example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1" i="0">
                <a:solidFill>
                  <a:srgbClr val="1F2A44"/>
                </a:solidFill>
                <a:latin typeface="Cambria"/>
              </a:rPr>
              <a:t>2-bromo-2-methylpropane  +  H₂O  (warm)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8463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3° substrate, weak nucleophile, polar protic solvent  →  SN1.</a:t>
            </a:r>
          </a:p>
          <a:p>
            <a:pPr algn="l">
              <a:spcAft>
                <a:spcPts val="765"/>
              </a:spcAft>
            </a:pPr>
            <a:r>
              <a:rPr sz="1700" b="0" i="0">
                <a:solidFill>
                  <a:srgbClr val="1F2A44"/>
                </a:solidFill>
                <a:latin typeface="Calibri"/>
              </a:rPr>
              <a:t>A stable 3° carbocation forms first, then water attacks.</a:t>
            </a:r>
          </a:p>
          <a:p>
            <a:pPr algn="l">
              <a:spcAft>
                <a:spcPts val="765"/>
              </a:spcAft>
            </a:pPr>
            <a:r>
              <a:rPr sz="1700" b="1" i="0">
                <a:solidFill>
                  <a:srgbClr val="B45309"/>
                </a:solidFill>
                <a:latin typeface="Calibri"/>
              </a:rPr>
              <a:t>Product: 2-methylpropan-2-ol (+ HBr)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B6E66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F2A44"/>
                </a:solidFill>
                <a:latin typeface="Calibri"/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F2A44"/>
                </a:solidFill>
                <a:latin typeface="Calibri"/>
              </a:rPr>
              <a:t>1.  Doubling [OH⁻] doubles the rate of a substitution. Is it SN1 or SN2? Explain.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F2A44"/>
                </a:solidFill>
                <a:latin typeface="Calibri"/>
              </a:rPr>
              <a:t>2.  Arrange in order of increasing SN2 rate: 2-bromopropane, bromomethane, 2-bromo-2-methylpropane, bromoethane.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F2A44"/>
                </a:solidFill>
                <a:latin typeface="Calibri"/>
              </a:rPr>
              <a:t>3.  (S)-2-iodobutane reacts with CN⁻ in DMSO. Name the product and give its configuration.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F2A44"/>
                </a:solidFill>
                <a:latin typeface="Calibri"/>
              </a:rPr>
              <a:t>4.  Why does 2-bromo-2-methylpropane react faster in water than in acetone?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F2A44"/>
                </a:solidFill>
                <a:latin typeface="Calibri"/>
              </a:rPr>
              <a:t>5.  Which is the better leaving group, Cl⁻ or I⁻?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